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1A0F5-DC10-67AE-8FA5-D46EA8E64A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7B6C3-96E9-0205-D125-177216881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F2108-21A2-D42E-249F-0D4EF6556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78D7C-A5F2-0610-11B8-E00230FD8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29551-D4FF-FDDA-211E-C34A4A12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0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B3D17-B069-5E3F-7643-E554150D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D705A-3184-1993-50FF-492766386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BDB2B-7895-1A6C-F213-4F7A7BBCB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30E35-664F-6B75-0F57-78221B531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BD9FF-BA65-6F70-BC28-3A62D5EDE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917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0FE84-DFD1-C758-E37F-F5751C6DF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89C59-B44E-5DBD-6BCB-3D791F090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A670A-B23A-BDFA-AFD4-E9D112641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BF99E-D8DA-F590-1DFE-C47DA774C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C435E-9C2E-2614-E29D-6E0AD217C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808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CDEC-CD90-B08F-A5A4-C60E0FD1C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BDA88-AD38-C86D-76CC-9D905C98C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C6C5E5-D138-E3C2-F26C-00855E312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F81C3-4F2C-9F2F-46CE-6AC5ABBE1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0B2FC-14AC-DEC7-F28B-3D36F2223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FDA19-022C-CDD3-C1DE-9D55688D1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14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3646D-75E6-53AC-4E20-DE18BB275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CE541-AE6B-796A-978E-725F21B9A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405A2-8AB3-C94E-2F81-EE6C93464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B86FE4-F6FF-649E-20E9-21332374D5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AAE08E-F16A-B6A5-7300-76BF74F2D4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8F85AA-62D6-4986-2A5C-E3331D124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EC6AB5-F19D-1167-ECB0-51E5285F6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034B2B-3E84-604A-672D-B49207DE8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435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F0E6A-4689-4EC4-43DB-B27FD96DA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A9D0FA-9D77-9B2B-7B5B-4EBC82AC6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0DC652-4EF7-5702-3F9A-25E4005D0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FB9164-76BB-EAB8-7275-27348A53E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321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AD039-4958-73B7-C8F7-E7E6990FB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C17DD2-5765-82CC-9EC4-38B21CC47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1579B-A793-05C7-54D8-37E6C5765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196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15A38-DAB3-D4E3-6252-4247B5D2E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EBF96-17A7-1444-4E91-B980D1849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F99ED-EE65-4A9B-BDBF-08951478E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1C0D14-A964-DF2A-5247-1B3EBF4B2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A7028-858B-E87F-AC6F-6A5903095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B6869-C0AD-34ED-FBB7-B8011E99F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47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38120-C819-FBAC-FEF2-C2DCC1501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CEEA19-F41B-6FF9-7888-67DF4A6774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B34C5-A734-A371-802A-B20FC0886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88AA1-3811-A5F9-1AE9-EAF64D55D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C38C3-38A9-9B28-B488-DCAE74435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43AD6-4A60-C66A-1E06-288BD15B6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3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B7F3F-036E-83F0-7230-E85464F6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ECEEA0-2758-F7A8-4306-1A4512EA2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5B341-7121-001E-C660-9499E8D60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DE635-6F6E-9D0F-EC1C-EF99B4B9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73AEC-4AB0-1947-200D-D2A1FB8A3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510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0C9208-EA93-0885-FD46-3188F721F3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7B343A-D040-53DE-787B-8B354AF8E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E0F0D-7D8B-3B64-9F04-ADCFDD1A9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17A08-8013-B52D-FAD3-B32D27871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00318-BB40-80B4-4A30-630532104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61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3CE68C-D46E-90C6-A4A6-7E517E38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6149-48D7-D62B-B82B-08F8AD497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AA437-8004-3B9A-E5B9-DD9BCD8F52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0148C-E75C-2005-CE8E-A98D3BFF40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6E817-41CF-05C2-AB53-C316F6A63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521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sj34101n@pace.edu" TargetMode="External"/><Relationship Id="rId2" Type="http://schemas.openxmlformats.org/officeDocument/2006/relationships/hyperlink" Target="mailto:an05893n@pace.edu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2F740-987B-D1F0-3626-A70A94656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00074"/>
            <a:ext cx="6489610" cy="152993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EAC-DTW: Entropy-Adaptive Constraint Dynamic Time Warping Framework for Quantifiably Trustworthy ECG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A7BA64-C544-93CB-4A09-E83D27E4A5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5210826"/>
            <a:ext cx="6035041" cy="1098533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b="1" dirty="0"/>
              <a:t>Fnu Ashutosh , Shivam Jha</a:t>
            </a:r>
            <a:r>
              <a:rPr lang="en-US" dirty="0"/>
              <a:t> </a:t>
            </a:r>
            <a:br>
              <a:rPr lang="en-US" dirty="0"/>
            </a:br>
            <a:r>
              <a:rPr lang="en-US" b="1" dirty="0"/>
              <a:t>Faculty Advisor:</a:t>
            </a:r>
            <a:r>
              <a:rPr lang="en-US" dirty="0"/>
              <a:t> Dr. Sung-Hyuk Cha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pic>
        <p:nvPicPr>
          <p:cNvPr id="4" name="Picture 3" descr="A picture of an electromagnetic radiation">
            <a:extLst>
              <a:ext uri="{FF2B5EF4-FFF2-40B4-BE49-F238E27FC236}">
                <a16:creationId xmlns:a16="http://schemas.microsoft.com/office/drawing/2014/main" id="{2524DBA6-A5C7-53C3-8C2D-DD4014B458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82" r="25772" b="2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05F349-A9D4-F2FB-6051-7DF3B6E8B7FD}"/>
              </a:ext>
            </a:extLst>
          </p:cNvPr>
          <p:cNvSpPr txBox="1"/>
          <p:nvPr/>
        </p:nvSpPr>
        <p:spPr>
          <a:xfrm>
            <a:off x="9319364" y="6150104"/>
            <a:ext cx="30139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SARD 2025</a:t>
            </a:r>
          </a:p>
        </p:txBody>
      </p:sp>
    </p:spTree>
    <p:extLst>
      <p:ext uri="{BB962C8B-B14F-4D97-AF65-F5344CB8AC3E}">
        <p14:creationId xmlns:p14="http://schemas.microsoft.com/office/powerpoint/2010/main" val="2194936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053ED-1944-C197-5C24-CC7A941AD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007" y="603501"/>
            <a:ext cx="4361693" cy="1527049"/>
          </a:xfrm>
        </p:spPr>
        <p:txBody>
          <a:bodyPr anchor="b">
            <a:normAutofit/>
          </a:bodyPr>
          <a:lstStyle/>
          <a:p>
            <a:r>
              <a:rPr lang="en-US"/>
              <a:t>Agenda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35F78C0-93D3-9165-6EE0-2FDC3CFE8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07" y="2212846"/>
            <a:ext cx="4361693" cy="40965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/>
              <a:t>1. Clinical Context &amp; Problem Statement</a:t>
            </a:r>
          </a:p>
          <a:p>
            <a:pPr>
              <a:lnSpc>
                <a:spcPct val="110000"/>
              </a:lnSpc>
            </a:pPr>
            <a:r>
              <a:rPr lang="en-US" sz="1500"/>
              <a:t>2. Dynamic Time Warping Fundamentals</a:t>
            </a:r>
          </a:p>
          <a:p>
            <a:pPr>
              <a:lnSpc>
                <a:spcPct val="110000"/>
              </a:lnSpc>
            </a:pPr>
            <a:r>
              <a:rPr lang="en-US" sz="1500"/>
              <a:t>3. The Pathological Warping Challenge</a:t>
            </a:r>
          </a:p>
          <a:p>
            <a:pPr>
              <a:lnSpc>
                <a:spcPct val="110000"/>
              </a:lnSpc>
            </a:pPr>
            <a:r>
              <a:rPr lang="en-US" sz="1500"/>
              <a:t>4. EAC-DTW: Our Entropy-Driven Solution</a:t>
            </a:r>
          </a:p>
          <a:p>
            <a:pPr>
              <a:lnSpc>
                <a:spcPct val="110000"/>
              </a:lnSpc>
            </a:pPr>
            <a:r>
              <a:rPr lang="en-US" sz="1500"/>
              <a:t>5. Technical Implementation Details</a:t>
            </a:r>
          </a:p>
          <a:p>
            <a:pPr>
              <a:lnSpc>
                <a:spcPct val="110000"/>
              </a:lnSpc>
            </a:pPr>
            <a:r>
              <a:rPr lang="en-US" sz="1500"/>
              <a:t>6. Experimental Results</a:t>
            </a:r>
          </a:p>
          <a:p>
            <a:pPr>
              <a:lnSpc>
                <a:spcPct val="110000"/>
              </a:lnSpc>
            </a:pPr>
            <a:r>
              <a:rPr lang="en-US" sz="1500"/>
              <a:t>7. Business Impact &amp; Healthcare Applications</a:t>
            </a:r>
          </a:p>
          <a:p>
            <a:pPr>
              <a:lnSpc>
                <a:spcPct val="110000"/>
              </a:lnSpc>
            </a:pPr>
            <a:r>
              <a:rPr lang="en-US" sz="1500"/>
              <a:t>8. Future Directions &amp; Conclusion</a:t>
            </a:r>
          </a:p>
          <a:p>
            <a:pPr>
              <a:lnSpc>
                <a:spcPct val="110000"/>
              </a:lnSpc>
            </a:pPr>
            <a:r>
              <a:rPr lang="en-US" sz="1500"/>
              <a:t>9. Q&amp;A</a:t>
            </a:r>
          </a:p>
        </p:txBody>
      </p:sp>
      <p:pic>
        <p:nvPicPr>
          <p:cNvPr id="18" name="Picture 17" descr="Digital financial graph">
            <a:extLst>
              <a:ext uri="{FF2B5EF4-FFF2-40B4-BE49-F238E27FC236}">
                <a16:creationId xmlns:a16="http://schemas.microsoft.com/office/drawing/2014/main" id="{6863D63A-BE1A-4ED4-750F-AE59E62783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506" r="16219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887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3C17D-5AD5-BD2F-5372-7973BB048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548640"/>
            <a:ext cx="10872215" cy="6777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ECG Classification Challenge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099E71-9268-7489-BBB3-92E2CF1543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27800" y="1775012"/>
            <a:ext cx="4957063" cy="4534348"/>
          </a:xfrm>
        </p:spPr>
        <p:txBody>
          <a:bodyPr vert="horz" lIns="91440" tIns="45720" rIns="91440" bIns="45720" rtlCol="0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500" b="1" dirty="0"/>
              <a:t>Cardiovascular diseases (CVDs) remain the leading cause of mortality globally</a:t>
            </a:r>
            <a:r>
              <a:rPr lang="en-US" sz="1500" dirty="0"/>
              <a:t>, necessitating automated ECG analysis for arrhythmia detection.</a:t>
            </a:r>
          </a:p>
          <a:p>
            <a:pPr algn="l">
              <a:lnSpc>
                <a:spcPct val="110000"/>
              </a:lnSpc>
            </a:pPr>
            <a:r>
              <a:rPr lang="en-US" sz="1500" b="1" dirty="0"/>
              <a:t>The DTW Dilemma:</a:t>
            </a:r>
            <a:endParaRPr lang="en-US" sz="15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Standard DTW enables elastic alignment but creates </a:t>
            </a:r>
            <a:r>
              <a:rPr lang="en-US" sz="1500" b="1" dirty="0"/>
              <a:t>pathological warping</a:t>
            </a:r>
            <a:endParaRPr lang="en-US" sz="15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Fixed constraints (</a:t>
            </a:r>
            <a:r>
              <a:rPr lang="en-US" sz="1500" dirty="0" err="1"/>
              <a:t>Sakoe</a:t>
            </a:r>
            <a:r>
              <a:rPr lang="en-US" sz="1500" dirty="0"/>
              <a:t>-Chiba band) are too rigid for complex regions, too permissive for noise</a:t>
            </a:r>
          </a:p>
          <a:p>
            <a:pPr algn="l">
              <a:lnSpc>
                <a:spcPct val="110000"/>
              </a:lnSpc>
            </a:pPr>
            <a:r>
              <a:rPr lang="en-US" sz="1500" b="1" dirty="0"/>
              <a:t>Our Solution: Entropy-Adaptive Constraint DTW (EAC-DTW)</a:t>
            </a:r>
            <a:endParaRPr lang="en-US" sz="15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Uses local Shannon entropy to dynamically adjust warping constraints</a:t>
            </a:r>
          </a:p>
        </p:txBody>
      </p:sp>
      <p:pic>
        <p:nvPicPr>
          <p:cNvPr id="6" name="Picture 5" descr="A group of colorful waves">
            <a:extLst>
              <a:ext uri="{FF2B5EF4-FFF2-40B4-BE49-F238E27FC236}">
                <a16:creationId xmlns:a16="http://schemas.microsoft.com/office/drawing/2014/main" id="{A7811C30-6AB1-1C7A-5015-4C758BA8FA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"/>
          <a:stretch>
            <a:fillRect/>
          </a:stretch>
        </p:blipFill>
        <p:spPr>
          <a:xfrm>
            <a:off x="731520" y="1775012"/>
            <a:ext cx="5173980" cy="453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752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C9849-3C58-CB66-D954-F4E089E21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577" y="193800"/>
            <a:ext cx="9202423" cy="65739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Fixed Constraint Approaches Fall Short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6D3BB4-D43C-27BF-B673-FBCC8C879C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8368580"/>
              </p:ext>
            </p:extLst>
          </p:nvPr>
        </p:nvGraphicFramePr>
        <p:xfrm>
          <a:off x="614678" y="3180158"/>
          <a:ext cx="5173648" cy="2340174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611890">
                  <a:extLst>
                    <a:ext uri="{9D8B030D-6E8A-4147-A177-3AD203B41FA5}">
                      <a16:colId xmlns:a16="http://schemas.microsoft.com/office/drawing/2014/main" val="106924012"/>
                    </a:ext>
                  </a:extLst>
                </a:gridCol>
                <a:gridCol w="2561758">
                  <a:extLst>
                    <a:ext uri="{9D8B030D-6E8A-4147-A177-3AD203B41FA5}">
                      <a16:colId xmlns:a16="http://schemas.microsoft.com/office/drawing/2014/main" val="2256440530"/>
                    </a:ext>
                  </a:extLst>
                </a:gridCol>
              </a:tblGrid>
              <a:tr h="3820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>
                          <a:effectLst/>
                        </a:rPr>
                        <a:t>Advantages</a:t>
                      </a:r>
                      <a:endParaRPr lang="en-US" sz="1800">
                        <a:effectLst/>
                      </a:endParaRPr>
                    </a:p>
                  </a:txBody>
                  <a:tcPr marL="75198" marR="75198" marT="37599" marB="3759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>
                          <a:effectLst/>
                        </a:rPr>
                        <a:t>Critical Limitations</a:t>
                      </a:r>
                      <a:endParaRPr lang="en-US" sz="1800">
                        <a:effectLst/>
                      </a:endParaRPr>
                    </a:p>
                  </a:txBody>
                  <a:tcPr marL="75198" marR="75198" marT="37599" marB="37599" anchor="ctr"/>
                </a:tc>
                <a:extLst>
                  <a:ext uri="{0D108BD9-81ED-4DB2-BD59-A6C34878D82A}">
                    <a16:rowId xmlns:a16="http://schemas.microsoft.com/office/drawing/2014/main" val="1210901763"/>
                  </a:ext>
                </a:extLst>
              </a:tr>
              <a:tr h="652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Prevents extreme warping paths</a:t>
                      </a:r>
                    </a:p>
                  </a:txBody>
                  <a:tcPr marL="75198" marR="75198" marT="37599" marB="375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One-size-fits-all approach</a:t>
                      </a:r>
                    </a:p>
                  </a:txBody>
                  <a:tcPr marL="75198" marR="75198" marT="37599" marB="37599" anchor="ctr"/>
                </a:tc>
                <a:extLst>
                  <a:ext uri="{0D108BD9-81ED-4DB2-BD59-A6C34878D82A}">
                    <a16:rowId xmlns:a16="http://schemas.microsoft.com/office/drawing/2014/main" val="4138001106"/>
                  </a:ext>
                </a:extLst>
              </a:tr>
              <a:tr h="652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O(NR) computational efficiency</a:t>
                      </a:r>
                    </a:p>
                  </a:txBody>
                  <a:tcPr marL="75198" marR="75198" marT="37599" marB="375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Cannot adapt to signal heterogeneity</a:t>
                      </a:r>
                    </a:p>
                  </a:txBody>
                  <a:tcPr marL="75198" marR="75198" marT="37599" marB="37599" anchor="ctr"/>
                </a:tc>
                <a:extLst>
                  <a:ext uri="{0D108BD9-81ED-4DB2-BD59-A6C34878D82A}">
                    <a16:rowId xmlns:a16="http://schemas.microsoft.com/office/drawing/2014/main" val="3922333971"/>
                  </a:ext>
                </a:extLst>
              </a:tr>
              <a:tr h="652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Industry standard (10% window)</a:t>
                      </a:r>
                    </a:p>
                  </a:txBody>
                  <a:tcPr marL="75198" marR="75198" marT="37599" marB="375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Too rigid for PVCs, too loose for noise</a:t>
                      </a:r>
                    </a:p>
                  </a:txBody>
                  <a:tcPr marL="75198" marR="75198" marT="37599" marB="37599" anchor="ctr"/>
                </a:tc>
                <a:extLst>
                  <a:ext uri="{0D108BD9-81ED-4DB2-BD59-A6C34878D82A}">
                    <a16:rowId xmlns:a16="http://schemas.microsoft.com/office/drawing/2014/main" val="369148553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F1F202A-4FC6-947B-D4F1-120F6964E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320800"/>
            <a:ext cx="5981700" cy="493841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eaLnBrk="1" fontAlgn="base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effectLst/>
                <a:latin typeface="+mn-lt"/>
              </a:rPr>
              <a:t>Sakoe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-Chiba Band (1978):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-228600" eaLnBrk="1" fontAlgn="base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Restricts warping to fixed diagonal band |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+mn-lt"/>
              </a:rPr>
              <a:t>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-j| ≤ R</a:t>
            </a:r>
          </a:p>
          <a:p>
            <a:pPr marL="0" marR="0" lvl="0" indent="-228600" eaLnBrk="1" fontAlgn="base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Reduces complexity from O(N²) to O(NR)</a:t>
            </a:r>
          </a:p>
          <a:p>
            <a:pPr marL="0" marR="0" lvl="0" indent="-228600" eaLnBrk="1" fontAlgn="base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Industry standard but 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"one-size-fits-all"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R="0" lvl="0" eaLnBrk="1" fontAlgn="base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Critical Limitations: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</a:t>
            </a:r>
          </a:p>
          <a:p>
            <a:pPr marR="0" lvl="0" eaLnBrk="1" fontAlgn="base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Cannot adapt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 to ECG signal heterogeneity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</a:b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Too rigid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for QRS complexes (needs flexibility)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</a:b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Too permissive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in isoelectric regions (allows noise alignment)</a:t>
            </a:r>
          </a:p>
          <a:p>
            <a:pPr marR="0" lvl="0" eaLnBrk="1" fontAlgn="base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Other Approaches: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-228600" eaLnBrk="1" fontAlgn="base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Derivative DTW: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Amplifies noise</a:t>
            </a:r>
          </a:p>
          <a:p>
            <a:pPr marL="0" marR="0" lvl="0" indent="-228600" eaLnBrk="1" fontAlgn="base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Soft-DTW: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Computationally expensive</a:t>
            </a:r>
          </a:p>
          <a:p>
            <a:pPr marL="0" marR="0" lvl="0" indent="-228600" eaLnBrk="1" fontAlgn="base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Fixed constraints: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Ignore local signal complexity</a:t>
            </a:r>
          </a:p>
          <a:p>
            <a:pPr marR="0" lvl="0" eaLnBrk="1" fontAlgn="base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Key Insight: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</a:t>
            </a:r>
          </a:p>
          <a:p>
            <a:pPr marR="0" lvl="0" eaLnBrk="1" fontAlgn="base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ECG signals need 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position-dependent constraints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based on local information content.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723FD5-E4FA-346A-A422-4281BC1EA4F9}"/>
              </a:ext>
            </a:extLst>
          </p:cNvPr>
          <p:cNvSpPr txBox="1"/>
          <p:nvPr/>
        </p:nvSpPr>
        <p:spPr>
          <a:xfrm>
            <a:off x="614677" y="2810826"/>
            <a:ext cx="2299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b="1" dirty="0"/>
              <a:t>Comparison Table: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174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63DC8-CE50-7352-2087-516326127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Constraint Framework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BBF74-DA4B-B26D-6428-033426EE4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7108953" cy="459382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400" b="1" dirty="0"/>
              <a:t>Core Hypothesis:</a:t>
            </a:r>
            <a:r>
              <a:rPr lang="en-US" sz="2400" dirty="0"/>
              <a:t> Optimal constraint width is a function of </a:t>
            </a:r>
            <a:r>
              <a:rPr lang="en-US" sz="2400" b="1" dirty="0"/>
              <a:t>local signal complexity</a:t>
            </a:r>
            <a:endParaRPr lang="en-US" sz="2400" dirty="0"/>
          </a:p>
          <a:p>
            <a:pPr marL="0" indent="0">
              <a:buNone/>
            </a:pPr>
            <a:r>
              <a:rPr lang="en-US" b="1" dirty="0"/>
              <a:t>Three-Step Framework: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1. Local Complexity Quantification</a:t>
            </a:r>
            <a:endParaRPr lang="en-US" dirty="0"/>
          </a:p>
          <a:p>
            <a:r>
              <a:rPr lang="en-US" dirty="0"/>
              <a:t>Rolling Shannon entropy: </a:t>
            </a:r>
            <a:r>
              <a:rPr lang="en-US" b="1" dirty="0" err="1"/>
              <a:t>H_i</a:t>
            </a:r>
            <a:r>
              <a:rPr lang="en-US" b="1" dirty="0"/>
              <a:t> = -</a:t>
            </a:r>
            <a:r>
              <a:rPr lang="el-GR" b="1" dirty="0"/>
              <a:t>Σ </a:t>
            </a:r>
            <a:r>
              <a:rPr lang="en-US" b="1" dirty="0" err="1"/>
              <a:t>p_k</a:t>
            </a:r>
            <a:r>
              <a:rPr lang="en-US" b="1" dirty="0"/>
              <a:t> log₂(</a:t>
            </a:r>
            <a:r>
              <a:rPr lang="en-US" b="1" dirty="0" err="1"/>
              <a:t>p_k</a:t>
            </a:r>
            <a:r>
              <a:rPr lang="en-US" b="1" dirty="0"/>
              <a:t>)</a:t>
            </a:r>
            <a:endParaRPr lang="en-US" dirty="0"/>
          </a:p>
          <a:p>
            <a:r>
              <a:rPr lang="en-US" b="1" dirty="0"/>
              <a:t>High entropy</a:t>
            </a:r>
            <a:r>
              <a:rPr lang="en-US" dirty="0"/>
              <a:t> → Complex regions (QRS complexes)</a:t>
            </a:r>
          </a:p>
          <a:p>
            <a:r>
              <a:rPr lang="en-US" b="1" dirty="0"/>
              <a:t>Low entropy</a:t>
            </a:r>
            <a:r>
              <a:rPr lang="en-US" dirty="0"/>
              <a:t> → Simple regions (noise/isoelectric)</a:t>
            </a:r>
          </a:p>
          <a:p>
            <a:pPr marL="0" indent="0">
              <a:buNone/>
            </a:pPr>
            <a:r>
              <a:rPr lang="en-US" b="1" dirty="0"/>
              <a:t>2. Adaptive Constraint Mapping</a:t>
            </a:r>
            <a:endParaRPr lang="en-US" dirty="0"/>
          </a:p>
          <a:p>
            <a:r>
              <a:rPr lang="en-US" dirty="0"/>
              <a:t>Sigmoid transformation: </a:t>
            </a:r>
            <a:r>
              <a:rPr lang="en-US" b="1" dirty="0" err="1"/>
              <a:t>w_i</a:t>
            </a:r>
            <a:r>
              <a:rPr lang="en-US" b="1" dirty="0"/>
              <a:t> = </a:t>
            </a:r>
            <a:r>
              <a:rPr lang="en-US" b="1" dirty="0" err="1"/>
              <a:t>w_min</a:t>
            </a:r>
            <a:r>
              <a:rPr lang="en-US" b="1" dirty="0"/>
              <a:t> + (</a:t>
            </a:r>
            <a:r>
              <a:rPr lang="en-US" b="1" dirty="0" err="1"/>
              <a:t>w_max</a:t>
            </a:r>
            <a:r>
              <a:rPr lang="en-US" b="1" dirty="0"/>
              <a:t> - </a:t>
            </a:r>
            <a:r>
              <a:rPr lang="en-US" b="1" dirty="0" err="1"/>
              <a:t>w_min</a:t>
            </a:r>
            <a:r>
              <a:rPr lang="en-US" b="1" dirty="0"/>
              <a:t>)/(1 + e^(-k(</a:t>
            </a:r>
            <a:r>
              <a:rPr lang="en-US" b="1" dirty="0" err="1"/>
              <a:t>H_i</a:t>
            </a:r>
            <a:r>
              <a:rPr lang="en-US" b="1" dirty="0"/>
              <a:t> - </a:t>
            </a:r>
            <a:r>
              <a:rPr lang="el-GR" b="1" dirty="0"/>
              <a:t>μ_</a:t>
            </a:r>
            <a:r>
              <a:rPr lang="en-US" b="1" dirty="0"/>
              <a:t>H)))</a:t>
            </a:r>
            <a:endParaRPr lang="en-US" dirty="0"/>
          </a:p>
          <a:p>
            <a:r>
              <a:rPr lang="en-US" b="1" dirty="0" err="1"/>
              <a:t>w_min</a:t>
            </a:r>
            <a:r>
              <a:rPr lang="en-US" b="1" dirty="0"/>
              <a:t> = 2</a:t>
            </a:r>
            <a:r>
              <a:rPr lang="en-US" dirty="0"/>
              <a:t> (rigidity), </a:t>
            </a:r>
            <a:r>
              <a:rPr lang="en-US" b="1" dirty="0" err="1"/>
              <a:t>w_max</a:t>
            </a:r>
            <a:r>
              <a:rPr lang="en-US" b="1" dirty="0"/>
              <a:t> = 15%</a:t>
            </a:r>
            <a:r>
              <a:rPr lang="en-US" dirty="0"/>
              <a:t> (flexibility)</a:t>
            </a:r>
          </a:p>
          <a:p>
            <a:r>
              <a:rPr lang="en-US" b="1" dirty="0"/>
              <a:t>k = 2.0</a:t>
            </a:r>
            <a:r>
              <a:rPr lang="en-US" dirty="0"/>
              <a:t> (transition steepness)</a:t>
            </a:r>
          </a:p>
          <a:p>
            <a:r>
              <a:rPr lang="en-US" b="1" dirty="0"/>
              <a:t>3. Constrained DTW with Variable Tunnel</a:t>
            </a:r>
            <a:endParaRPr lang="en-US" dirty="0"/>
          </a:p>
          <a:p>
            <a:r>
              <a:rPr lang="en-US" dirty="0"/>
              <a:t>Dynamic programming with position-dependent constraints</a:t>
            </a:r>
          </a:p>
          <a:p>
            <a:r>
              <a:rPr lang="en-US" dirty="0"/>
              <a:t>Creates </a:t>
            </a:r>
            <a:r>
              <a:rPr lang="en-US" b="1" dirty="0"/>
              <a:t>expanding/contracting search space</a:t>
            </a:r>
            <a:endParaRPr lang="en-US" dirty="0"/>
          </a:p>
          <a:p>
            <a:r>
              <a:rPr lang="en-US" dirty="0"/>
              <a:t>Prevents pathological warping while preserving morphological alignment</a:t>
            </a:r>
          </a:p>
        </p:txBody>
      </p:sp>
      <p:pic>
        <p:nvPicPr>
          <p:cNvPr id="7" name="Picture 6" descr="A graph of different types of lines&#10;&#10;AI-generated content may be incorrect.">
            <a:extLst>
              <a:ext uri="{FF2B5EF4-FFF2-40B4-BE49-F238E27FC236}">
                <a16:creationId xmlns:a16="http://schemas.microsoft.com/office/drawing/2014/main" id="{EDA1E93C-3086-F0E5-251E-9191DEC38C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500" y="0"/>
            <a:ext cx="4114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597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E68281-65BF-96FD-718B-786630AA7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539578"/>
            <a:ext cx="5981278" cy="1684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/>
              <a:t>Theoretical Foundation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8056A4F-1C53-300F-E4E9-7B97432EF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1" y="2409568"/>
            <a:ext cx="5981278" cy="369055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+mn-lt"/>
              </a:rPr>
              <a:t>Theorem: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 EAC-DTW strictly bounds pathological warping in low-complexity regions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+mn-lt"/>
              </a:rPr>
              <a:t>Proof Sketch: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+mn-lt"/>
            </a:endParaRP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Low entropy regions: H_i → 0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Sigmoid mapping: w_i → w_min (tight constraints)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+mn-lt"/>
              </a:rPr>
              <a:t>Geometric consequence: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 Path stays near diagonal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Noise forced to align with baseline, not morphological features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+mn-lt"/>
              </a:rPr>
              <a:t>Computational Complexity: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+mn-lt"/>
            </a:endParaRP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+mn-lt"/>
              </a:rPr>
              <a:t>28% speedup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 over Sakoe-Chiba (w̄ = 8.8 &lt; R = 36)</a:t>
            </a:r>
          </a:p>
        </p:txBody>
      </p:sp>
      <p:pic>
        <p:nvPicPr>
          <p:cNvPr id="7" name="Picture 6" descr="A screenshot of a graph">
            <a:extLst>
              <a:ext uri="{FF2B5EF4-FFF2-40B4-BE49-F238E27FC236}">
                <a16:creationId xmlns:a16="http://schemas.microsoft.com/office/drawing/2014/main" id="{3FDCB9B2-6510-E87B-A967-E371D563F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1434" y="168876"/>
            <a:ext cx="3943054" cy="2631989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3F43A2-A462-B34A-B9C3-561624620F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9549875"/>
              </p:ext>
            </p:extLst>
          </p:nvPr>
        </p:nvGraphicFramePr>
        <p:xfrm>
          <a:off x="7240946" y="2961503"/>
          <a:ext cx="4704021" cy="313861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28384">
                  <a:extLst>
                    <a:ext uri="{9D8B030D-6E8A-4147-A177-3AD203B41FA5}">
                      <a16:colId xmlns:a16="http://schemas.microsoft.com/office/drawing/2014/main" val="1199058939"/>
                    </a:ext>
                  </a:extLst>
                </a:gridCol>
                <a:gridCol w="1611328">
                  <a:extLst>
                    <a:ext uri="{9D8B030D-6E8A-4147-A177-3AD203B41FA5}">
                      <a16:colId xmlns:a16="http://schemas.microsoft.com/office/drawing/2014/main" val="2976586228"/>
                    </a:ext>
                  </a:extLst>
                </a:gridCol>
                <a:gridCol w="1364309">
                  <a:extLst>
                    <a:ext uri="{9D8B030D-6E8A-4147-A177-3AD203B41FA5}">
                      <a16:colId xmlns:a16="http://schemas.microsoft.com/office/drawing/2014/main" val="3678500537"/>
                    </a:ext>
                  </a:extLst>
                </a:gridCol>
              </a:tblGrid>
              <a:tr h="958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>
                          <a:effectLst/>
                        </a:rPr>
                        <a:t>Algorithm</a:t>
                      </a:r>
                      <a:endParaRPr lang="en-US" sz="1800">
                        <a:effectLst/>
                      </a:endParaRPr>
                    </a:p>
                  </a:txBody>
                  <a:tcPr marL="96757" marR="96757" marT="48379" marB="4837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>
                          <a:effectLst/>
                        </a:rPr>
                        <a:t>Complexity</a:t>
                      </a:r>
                      <a:endParaRPr lang="en-US" sz="1800">
                        <a:effectLst/>
                      </a:endParaRPr>
                    </a:p>
                  </a:txBody>
                  <a:tcPr marL="96757" marR="96757" marT="48379" marB="4837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>
                          <a:effectLst/>
                        </a:rPr>
                        <a:t>Runtime (300 samples)</a:t>
                      </a:r>
                      <a:endParaRPr lang="en-US" sz="1800">
                        <a:effectLst/>
                      </a:endParaRPr>
                    </a:p>
                  </a:txBody>
                  <a:tcPr marL="96757" marR="96757" marT="48379" marB="48379" anchor="ctr"/>
                </a:tc>
                <a:extLst>
                  <a:ext uri="{0D108BD9-81ED-4DB2-BD59-A6C34878D82A}">
                    <a16:rowId xmlns:a16="http://schemas.microsoft.com/office/drawing/2014/main" val="1651028764"/>
                  </a:ext>
                </a:extLst>
              </a:tr>
              <a:tr h="682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Euclidean Distance</a:t>
                      </a:r>
                    </a:p>
                  </a:txBody>
                  <a:tcPr marL="96757" marR="96757" marT="48379" marB="483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O(N)</a:t>
                      </a:r>
                    </a:p>
                  </a:txBody>
                  <a:tcPr marL="96757" marR="96757" marT="48379" marB="483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0.4 ms</a:t>
                      </a:r>
                    </a:p>
                  </a:txBody>
                  <a:tcPr marL="96757" marR="96757" marT="48379" marB="48379" anchor="ctr"/>
                </a:tc>
                <a:extLst>
                  <a:ext uri="{0D108BD9-81ED-4DB2-BD59-A6C34878D82A}">
                    <a16:rowId xmlns:a16="http://schemas.microsoft.com/office/drawing/2014/main" val="2291115597"/>
                  </a:ext>
                </a:extLst>
              </a:tr>
              <a:tr h="4072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Standard DTW</a:t>
                      </a:r>
                    </a:p>
                  </a:txBody>
                  <a:tcPr marL="96757" marR="96757" marT="48379" marB="483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O(N²)</a:t>
                      </a:r>
                    </a:p>
                  </a:txBody>
                  <a:tcPr marL="96757" marR="96757" marT="48379" marB="483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45.2 ms</a:t>
                      </a:r>
                    </a:p>
                  </a:txBody>
                  <a:tcPr marL="96757" marR="96757" marT="48379" marB="48379" anchor="ctr"/>
                </a:tc>
                <a:extLst>
                  <a:ext uri="{0D108BD9-81ED-4DB2-BD59-A6C34878D82A}">
                    <a16:rowId xmlns:a16="http://schemas.microsoft.com/office/drawing/2014/main" val="3855652786"/>
                  </a:ext>
                </a:extLst>
              </a:tr>
              <a:tr h="682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Sakoe-Chiba (10%)</a:t>
                      </a:r>
                    </a:p>
                  </a:txBody>
                  <a:tcPr marL="96757" marR="96757" marT="48379" marB="483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O(N·R)</a:t>
                      </a:r>
                    </a:p>
                  </a:txBody>
                  <a:tcPr marL="96757" marR="96757" marT="48379" marB="483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8.5 ms</a:t>
                      </a:r>
                    </a:p>
                  </a:txBody>
                  <a:tcPr marL="96757" marR="96757" marT="48379" marB="48379" anchor="ctr"/>
                </a:tc>
                <a:extLst>
                  <a:ext uri="{0D108BD9-81ED-4DB2-BD59-A6C34878D82A}">
                    <a16:rowId xmlns:a16="http://schemas.microsoft.com/office/drawing/2014/main" val="2444699772"/>
                  </a:ext>
                </a:extLst>
              </a:tr>
              <a:tr h="4072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EAC-DTW</a:t>
                      </a:r>
                      <a:endParaRPr lang="en-US" sz="1800">
                        <a:effectLst/>
                      </a:endParaRPr>
                    </a:p>
                  </a:txBody>
                  <a:tcPr marL="96757" marR="96757" marT="48379" marB="483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O(N·w̄)</a:t>
                      </a:r>
                    </a:p>
                  </a:txBody>
                  <a:tcPr marL="96757" marR="96757" marT="48379" marB="483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6.1 ms</a:t>
                      </a:r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96757" marR="96757" marT="48379" marB="48379" anchor="ctr"/>
                </a:tc>
                <a:extLst>
                  <a:ext uri="{0D108BD9-81ED-4DB2-BD59-A6C34878D82A}">
                    <a16:rowId xmlns:a16="http://schemas.microsoft.com/office/drawing/2014/main" val="2940282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2124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F48A3-CF64-D25C-5561-B5A7ECE51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1100" y="-61278"/>
            <a:ext cx="5587999" cy="1325563"/>
          </a:xfrm>
        </p:spPr>
        <p:txBody>
          <a:bodyPr/>
          <a:lstStyle/>
          <a:p>
            <a:r>
              <a:rPr lang="en-US" b="1" dirty="0"/>
              <a:t>Experimental Results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5C3DB73-EA9D-0C21-17ED-B44840C216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2700495"/>
              </p:ext>
            </p:extLst>
          </p:nvPr>
        </p:nvGraphicFramePr>
        <p:xfrm>
          <a:off x="330199" y="4457700"/>
          <a:ext cx="6121402" cy="2082800"/>
        </p:xfrm>
        <a:graphic>
          <a:graphicData uri="http://schemas.openxmlformats.org/drawingml/2006/table">
            <a:tbl>
              <a:tblPr/>
              <a:tblGrid>
                <a:gridCol w="2815268">
                  <a:extLst>
                    <a:ext uri="{9D8B030D-6E8A-4147-A177-3AD203B41FA5}">
                      <a16:colId xmlns:a16="http://schemas.microsoft.com/office/drawing/2014/main" val="72691238"/>
                    </a:ext>
                  </a:extLst>
                </a:gridCol>
                <a:gridCol w="851799">
                  <a:extLst>
                    <a:ext uri="{9D8B030D-6E8A-4147-A177-3AD203B41FA5}">
                      <a16:colId xmlns:a16="http://schemas.microsoft.com/office/drawing/2014/main" val="371302211"/>
                    </a:ext>
                  </a:extLst>
                </a:gridCol>
                <a:gridCol w="1241605">
                  <a:extLst>
                    <a:ext uri="{9D8B030D-6E8A-4147-A177-3AD203B41FA5}">
                      <a16:colId xmlns:a16="http://schemas.microsoft.com/office/drawing/2014/main" val="3503622428"/>
                    </a:ext>
                  </a:extLst>
                </a:gridCol>
                <a:gridCol w="1212730">
                  <a:extLst>
                    <a:ext uri="{9D8B030D-6E8A-4147-A177-3AD203B41FA5}">
                      <a16:colId xmlns:a16="http://schemas.microsoft.com/office/drawing/2014/main" val="410944563"/>
                    </a:ext>
                  </a:extLst>
                </a:gridCol>
              </a:tblGrid>
              <a:tr h="4165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Method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Clean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20 dB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10 dB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796173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Euclidean Distance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92.4%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88.8%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76.5%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828802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Standard DTW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96.1%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85.2%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68.4%</a:t>
                      </a:r>
                      <a:r>
                        <a:rPr lang="en-US">
                          <a:effectLst/>
                        </a:rPr>
                        <a:t> ↓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826889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Sakoe</a:t>
                      </a:r>
                      <a:r>
                        <a:rPr lang="en-US" dirty="0">
                          <a:effectLst/>
                        </a:rPr>
                        <a:t>-Chiba (10%)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97.5%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91.6%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73.3%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934439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EAC-DTW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97.8%</a:t>
                      </a:r>
                      <a:r>
                        <a:rPr lang="en-US" dirty="0">
                          <a:effectLst/>
                        </a:rPr>
                        <a:t> 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94.2%</a:t>
                      </a:r>
                      <a:r>
                        <a:rPr lang="en-US" dirty="0">
                          <a:effectLst/>
                        </a:rPr>
                        <a:t> 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79.3%</a:t>
                      </a:r>
                      <a:r>
                        <a:rPr lang="en-US" dirty="0">
                          <a:effectLst/>
                        </a:rPr>
                        <a:t> 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1103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32B4A7C-1915-00C9-E0F1-BAA94A6D5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201809"/>
              </p:ext>
            </p:extLst>
          </p:nvPr>
        </p:nvGraphicFramePr>
        <p:xfrm>
          <a:off x="6934199" y="4552950"/>
          <a:ext cx="4927602" cy="1402080"/>
        </p:xfrm>
        <a:graphic>
          <a:graphicData uri="http://schemas.openxmlformats.org/drawingml/2006/table">
            <a:tbl>
              <a:tblPr/>
              <a:tblGrid>
                <a:gridCol w="2070101">
                  <a:extLst>
                    <a:ext uri="{9D8B030D-6E8A-4147-A177-3AD203B41FA5}">
                      <a16:colId xmlns:a16="http://schemas.microsoft.com/office/drawing/2014/main" val="4048846014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3862759251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1001211620"/>
                    </a:ext>
                  </a:extLst>
                </a:gridCol>
                <a:gridCol w="774701">
                  <a:extLst>
                    <a:ext uri="{9D8B030D-6E8A-4147-A177-3AD203B41FA5}">
                      <a16:colId xmlns:a16="http://schemas.microsoft.com/office/drawing/2014/main" val="10832305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Method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Clean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20 dB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10 dB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454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Standard DTW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178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286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190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Sakoe</a:t>
                      </a:r>
                      <a:r>
                        <a:rPr lang="en-US" dirty="0">
                          <a:effectLst/>
                        </a:rPr>
                        <a:t>-Chiba (10%)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18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65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124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799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EAC-DTW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12</a:t>
                      </a:r>
                      <a:r>
                        <a:rPr lang="en-US" dirty="0">
                          <a:effectLst/>
                        </a:rPr>
                        <a:t> 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48</a:t>
                      </a:r>
                      <a:r>
                        <a:rPr lang="en-US" dirty="0">
                          <a:effectLst/>
                        </a:rPr>
                        <a:t> 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168</a:t>
                      </a:r>
                      <a:r>
                        <a:rPr lang="en-US" dirty="0">
                          <a:effectLst/>
                        </a:rPr>
                        <a:t> 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668723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B0D5CE60-F484-EB21-7D55-B75295A8B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199" y="1066540"/>
            <a:ext cx="8623301" cy="2605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11109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Dataset: Synthetic ECG-like signals (5 arrhythmia classes: Normal, LBBB, RBBB, PVC, APC)</a:t>
            </a:r>
            <a:br>
              <a:rPr lang="en-US" altLang="en-US" dirty="0"/>
            </a:br>
            <a:r>
              <a:rPr lang="en-US" altLang="en-US" dirty="0"/>
              <a:t>Evaluation: 1-NN classification with LOOCV across 3 noise conditions</a:t>
            </a:r>
            <a:br>
              <a:rPr lang="en-US" altLang="en-US" dirty="0"/>
            </a:br>
            <a:r>
              <a:rPr lang="en-US" altLang="en-US" dirty="0"/>
              <a:t>Sample Size: 30 beats per class (150 total heartbeats)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Classification Accuracy: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Key Achievements: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6.0 percentage points improvement at 10dB SNR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 41% reduction in pathological warping singularities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28% computational speedup</a:t>
            </a:r>
          </a:p>
        </p:txBody>
      </p:sp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2B082557-3B0E-14CB-1707-9B064E32D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913" y="2180502"/>
            <a:ext cx="5183188" cy="193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489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0" name="Rectangle 41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2" name="Freeform: Shape 42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D57019-3B47-79E6-0F91-F89D06D4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3700" b="1">
                <a:solidFill>
                  <a:srgbClr val="FFFFFF"/>
                </a:solidFill>
              </a:rPr>
              <a:t> Contributions &amp; Impact</a:t>
            </a:r>
            <a:endParaRPr lang="en-US" sz="3700">
              <a:solidFill>
                <a:srgbClr val="FFFFFF"/>
              </a:solidFill>
            </a:endParaRPr>
          </a:p>
        </p:txBody>
      </p:sp>
      <p:sp>
        <p:nvSpPr>
          <p:cNvPr id="424" name="Arc 42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E649719-4699-74C4-FF9F-039DC1C9B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300" b="1" dirty="0"/>
              <a:t>Research &amp; Business Value</a:t>
            </a:r>
          </a:p>
          <a:p>
            <a:r>
              <a:rPr lang="en-US" sz="1300" b="1" dirty="0"/>
              <a:t>Primary Contributions:</a:t>
            </a:r>
            <a:endParaRPr lang="en-US" sz="1300" dirty="0"/>
          </a:p>
          <a:p>
            <a:r>
              <a:rPr lang="en-US" sz="1300" b="1" dirty="0"/>
              <a:t>Novel Adaptive Constraint Mechanism:</a:t>
            </a:r>
            <a:r>
              <a:rPr lang="en-US" sz="1300" dirty="0"/>
              <a:t> First quantifiably trustworthy DTW system using local signal complexity (Shannon entropy) to modulate constraint width dynamically</a:t>
            </a:r>
          </a:p>
          <a:p>
            <a:r>
              <a:rPr lang="en-US" sz="1300" b="1" dirty="0"/>
              <a:t>Theoretical Foundation:</a:t>
            </a:r>
            <a:r>
              <a:rPr lang="en-US" sz="1300" dirty="0"/>
              <a:t> Bridges rigidity-elasticity trade-off through information-theoretic framework (Shannon 1948)</a:t>
            </a:r>
          </a:p>
          <a:p>
            <a:r>
              <a:rPr lang="en-US" sz="1300" b="1" dirty="0"/>
              <a:t>Practical Impact:</a:t>
            </a:r>
            <a:r>
              <a:rPr lang="en-US" sz="1300" dirty="0"/>
              <a:t> 6.0 pp accuracy gain at high noise (10 dB SNR) with 28% computational speedup</a:t>
            </a:r>
          </a:p>
          <a:p>
            <a:r>
              <a:rPr lang="en-US" sz="1300" b="1" dirty="0"/>
              <a:t>Singularity Mitigation:</a:t>
            </a:r>
            <a:r>
              <a:rPr lang="en-US" sz="1300" dirty="0"/>
              <a:t> 41% reduction in pathological warping instances</a:t>
            </a:r>
          </a:p>
          <a:p>
            <a:r>
              <a:rPr lang="en-US" sz="1300" b="1" dirty="0"/>
              <a:t>Business Impact:</a:t>
            </a:r>
            <a:endParaRPr lang="en-US" sz="1300" dirty="0"/>
          </a:p>
          <a:p>
            <a:r>
              <a:rPr lang="en-US" sz="1300" b="1" dirty="0"/>
              <a:t>Healthcare Market:</a:t>
            </a:r>
            <a:r>
              <a:rPr lang="en-US" sz="1300" dirty="0"/>
              <a:t> $6.2B ECG market (growing to $9.8B by 2030)</a:t>
            </a:r>
          </a:p>
          <a:p>
            <a:r>
              <a:rPr lang="en-US" sz="1300" b="1" dirty="0"/>
              <a:t>Cost Savings:</a:t>
            </a:r>
            <a:r>
              <a:rPr lang="en-US" sz="1300" dirty="0"/>
              <a:t> $2,500-5,000 per false alarm avoided</a:t>
            </a:r>
          </a:p>
          <a:p>
            <a:r>
              <a:rPr lang="en-US" sz="1300" b="1" dirty="0"/>
              <a:t>Applications:</a:t>
            </a:r>
            <a:r>
              <a:rPr lang="en-US" sz="1300" dirty="0"/>
              <a:t> Hospital ECG systems, wearable monitors, telemedicine</a:t>
            </a:r>
          </a:p>
          <a:p>
            <a:r>
              <a:rPr lang="en-US" sz="1300" b="1" dirty="0"/>
              <a:t>Competitive Advantage:</a:t>
            </a:r>
            <a:r>
              <a:rPr lang="en-US" sz="1300" dirty="0"/>
              <a:t> Noise-robust, computationally efficient, interpretable</a:t>
            </a:r>
          </a:p>
          <a:p>
            <a:r>
              <a:rPr lang="en-US" sz="1300" b="1" dirty="0"/>
              <a:t>Critical Limitations:</a:t>
            </a:r>
            <a:endParaRPr lang="en-US" sz="1300" dirty="0"/>
          </a:p>
          <a:p>
            <a:r>
              <a:rPr lang="en-US" sz="1300" b="1" dirty="0"/>
              <a:t>Synthetic Data Only:</a:t>
            </a:r>
            <a:r>
              <a:rPr lang="en-US" sz="1300" dirty="0"/>
              <a:t> Evaluation on artificially generated ECG-like signals, not clinical recordings</a:t>
            </a:r>
          </a:p>
          <a:p>
            <a:r>
              <a:rPr lang="en-US" sz="1300" b="1" dirty="0"/>
              <a:t>Simplified Morphologies:</a:t>
            </a:r>
            <a:r>
              <a:rPr lang="en-US" sz="1300" dirty="0"/>
              <a:t> Synthetic arrhythmias lack real-world variability</a:t>
            </a:r>
          </a:p>
          <a:p>
            <a:r>
              <a:rPr lang="en-US" sz="1300" b="1" dirty="0"/>
              <a:t>Single-Lead Analysis:</a:t>
            </a:r>
            <a:r>
              <a:rPr lang="en-US" sz="1300" dirty="0"/>
              <a:t> Not tested on multi-lead (12-lead) ECG systems</a:t>
            </a:r>
          </a:p>
          <a:p>
            <a:r>
              <a:rPr lang="en-US" sz="1300" b="1" dirty="0"/>
              <a:t>Future Work:</a:t>
            </a:r>
            <a:r>
              <a:rPr lang="en-US" sz="1300" dirty="0"/>
              <a:t> MIT-BIH clinical validation, real-time implementation, multi-lead extension</a:t>
            </a:r>
          </a:p>
          <a:p>
            <a:endParaRPr lang="en-US" sz="1300" dirty="0"/>
          </a:p>
        </p:txBody>
      </p:sp>
      <p:pic>
        <p:nvPicPr>
          <p:cNvPr id="7" name="Graphic 6" descr="Upward trend">
            <a:extLst>
              <a:ext uri="{FF2B5EF4-FFF2-40B4-BE49-F238E27FC236}">
                <a16:creationId xmlns:a16="http://schemas.microsoft.com/office/drawing/2014/main" id="{32AD3094-DDDE-232F-4422-B4E4CB53C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" y="538956"/>
            <a:ext cx="7493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069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9D031-45DA-427C-83F4-23D2FC231E89}"/>
              </a:ext>
            </a:extLst>
          </p:cNvPr>
          <p:cNvSpPr txBox="1"/>
          <p:nvPr/>
        </p:nvSpPr>
        <p:spPr>
          <a:xfrm>
            <a:off x="1171074" y="1396686"/>
            <a:ext cx="3240506" cy="4064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433C0E-F059-413E-ED48-9D83957EFDFD}"/>
              </a:ext>
            </a:extLst>
          </p:cNvPr>
          <p:cNvSpPr txBox="1"/>
          <p:nvPr/>
        </p:nvSpPr>
        <p:spPr>
          <a:xfrm>
            <a:off x="5370153" y="1526033"/>
            <a:ext cx="5536397" cy="3935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sz="1400" b="1" dirty="0"/>
              <a:t>Summary: </a:t>
            </a:r>
          </a:p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sz="1400" dirty="0"/>
              <a:t>EAC-DTW addresses the fundamental limitation of fixed-constraint DTW by using local signal entropy to dynamically adjust warping flexibility. Our approach achieves superior noise robustness while maintaining computational efficiency, making it suitable for clinical ECG analysis.</a:t>
            </a:r>
          </a:p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sz="1400" b="1" dirty="0"/>
              <a:t>Key Results: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79.3%</a:t>
            </a:r>
            <a:r>
              <a:rPr lang="en-US" sz="1400" dirty="0"/>
              <a:t> accuracy at 10dB SNR (</a:t>
            </a:r>
            <a:r>
              <a:rPr lang="en-US" sz="1400" b="1" dirty="0"/>
              <a:t>+6.0pp</a:t>
            </a:r>
            <a:r>
              <a:rPr lang="en-US" sz="1400" dirty="0"/>
              <a:t> improvement)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41%</a:t>
            </a:r>
            <a:r>
              <a:rPr lang="en-US" sz="1400" dirty="0"/>
              <a:t> reduction in pathological warping singularities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28% </a:t>
            </a:r>
            <a:r>
              <a:rPr lang="en-US" sz="1400" dirty="0"/>
              <a:t>computational speedup over industry standard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Foundation for trustworthy automated cardiac monitoring</a:t>
            </a:r>
          </a:p>
          <a:p>
            <a:pPr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Future Directions: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Clinical Validation: MIT-BIH Arrhythmia Database testing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Multi-Lead Extension: 12-lead ECG analysis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Real-Time Implementation: FPGA optimization for wearables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Commercial Development: Partnership opportunities</a:t>
            </a:r>
          </a:p>
          <a:p>
            <a:pPr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719142-617C-A3B0-B0D8-605AA210D7C1}"/>
              </a:ext>
            </a:extLst>
          </p:cNvPr>
          <p:cNvSpPr txBox="1"/>
          <p:nvPr/>
        </p:nvSpPr>
        <p:spPr>
          <a:xfrm>
            <a:off x="100257" y="5753534"/>
            <a:ext cx="12088695" cy="746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dirty="0"/>
              <a:t>Contact: </a:t>
            </a:r>
          </a:p>
          <a:p>
            <a:pPr algn="just">
              <a:lnSpc>
                <a:spcPct val="90000"/>
              </a:lnSpc>
              <a:spcAft>
                <a:spcPts val="1200"/>
              </a:spcAft>
            </a:pPr>
            <a:r>
              <a:rPr lang="en-US" dirty="0"/>
              <a:t>Fnu Ashutosh (</a:t>
            </a:r>
            <a:r>
              <a:rPr lang="en-US" dirty="0">
                <a:hlinkClick r:id="rId2"/>
              </a:rPr>
              <a:t>an05893n@pace.edu</a:t>
            </a:r>
            <a:r>
              <a:rPr lang="en-US" dirty="0"/>
              <a:t>) 					Shivam Jha (</a:t>
            </a:r>
            <a:r>
              <a:rPr lang="en-US" dirty="0">
                <a:hlinkClick r:id="rId3"/>
              </a:rPr>
              <a:t>sj34101n@pace.edu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40856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393</TotalTime>
  <Words>998</Words>
  <Application>Microsoft Office PowerPoint</Application>
  <PresentationFormat>Widescreen</PresentationFormat>
  <Paragraphs>156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EAC-DTW: Entropy-Adaptive Constraint Dynamic Time Warping Framework for Quantifiably Trustworthy ECG Classification</vt:lpstr>
      <vt:lpstr>Agenda</vt:lpstr>
      <vt:lpstr>The ECG Classification Challenge</vt:lpstr>
      <vt:lpstr>Fixed Constraint Approaches Fall Short</vt:lpstr>
      <vt:lpstr>Adaptive Constraint Framework </vt:lpstr>
      <vt:lpstr>Theoretical Foundation</vt:lpstr>
      <vt:lpstr>Experimental Results</vt:lpstr>
      <vt:lpstr> Contributions &amp; Impact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Fnu Ashutosh</dc:creator>
  <cp:lastModifiedBy>Fnu Ashutosh</cp:lastModifiedBy>
  <cp:revision>1</cp:revision>
  <dcterms:created xsi:type="dcterms:W3CDTF">2025-12-04T18:36:58Z</dcterms:created>
  <dcterms:modified xsi:type="dcterms:W3CDTF">2025-12-05T01:10:34Z</dcterms:modified>
</cp:coreProperties>
</file>