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EAC-DTW: Entropy-Adaptive Constraint Dynamic Time Warping Framework for Quantifiably Trustworthy ECG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Fnu Ashutosh (an05893n@pace.edu)</a:t>
            </a:r>
          </a:p>
          <a:p>
            <a:r>
              <a:t>Shivam Jha (sj34101n@pace.edu)</a:t>
            </a:r>
          </a:p>
          <a:p>
            <a:r>
              <a:t>Faculty Advisor: Dr. Sung-Hyuk Cha (scha@pace.edu)</a:t>
            </a:r>
          </a:p>
          <a:p/>
          <a:p>
            <a:r>
              <a:t>Seidenberg School of Computer Science and Information Systems</a:t>
            </a:r>
          </a:p>
          <a:p>
            <a:r>
              <a:t>Pace University, New York, NY</a:t>
            </a:r>
          </a:p>
          <a:p/>
          <a:p>
            <a:r>
              <a:t>December 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Clinical Context &amp; Problem Statement</a:t>
            </a:r>
          </a:p>
          <a:p>
            <a:r>
              <a:t>2. Dynamic Time Warping Fundamentals</a:t>
            </a:r>
          </a:p>
          <a:p>
            <a:r>
              <a:t>3. The Pathological Warping Challenge</a:t>
            </a:r>
          </a:p>
          <a:p>
            <a:r>
              <a:t>4. EAC-DTW: Our Entropy-Driven Solution</a:t>
            </a:r>
          </a:p>
          <a:p>
            <a:r>
              <a:t>5. Technical Implementation Details</a:t>
            </a:r>
          </a:p>
          <a:p>
            <a:r>
              <a:t>6. Experimental Results</a:t>
            </a:r>
          </a:p>
          <a:p>
            <a:r>
              <a:t>7. Business Impact &amp; Healthcare Applications</a:t>
            </a:r>
          </a:p>
          <a:p>
            <a:r>
              <a:t>8. Future Directions &amp; Conclusion</a:t>
            </a:r>
          </a:p>
          <a:p>
            <a:r>
              <a:t>9.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Cardiovascular Disease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Health Impact:</a:t>
            </a:r>
          </a:p>
          <a:p>
            <a:r>
              <a:t>• CVDs: Leading cause of mortality worldwide</a:t>
            </a:r>
          </a:p>
          <a:p>
            <a:r>
              <a:t>• ECG: Primary diagnostic tool for cardiac arrhythmias</a:t>
            </a:r>
          </a:p>
          <a:p>
            <a:r>
              <a:t>• Challenge: Automated analysis hindered by temporal distortions and noise</a:t>
            </a:r>
          </a:p>
          <a:p/>
          <a:p>
            <a:r>
              <a:t>Clinical Reality:</a:t>
            </a:r>
          </a:p>
          <a:p>
            <a:r>
              <a:t>• Heart rate variability affects signal timing</a:t>
            </a:r>
          </a:p>
          <a:p>
            <a:r>
              <a:t>• Sensor noise contaminates recordings</a:t>
            </a:r>
          </a:p>
          <a:p>
            <a:r>
              <a:t>• Traditional rigid alignment methods fail</a:t>
            </a:r>
          </a:p>
          <a:p/>
          <a:p>
            <a:r>
              <a:t>Our Research Question:</a:t>
            </a:r>
          </a:p>
          <a:p>
            <a:r>
              <a:t>How can we develop a robust ECG classification system that adapts to signal complexity while maintaining clinical accuracy?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Time Warping: Elastic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DTW?</a:t>
            </a:r>
          </a:p>
          <a:p>
            <a:r>
              <a:t>• Algorithm for measuring similarity between temporal sequences</a:t>
            </a:r>
          </a:p>
          <a:p>
            <a:r>
              <a:t>• Allows non-linear alignment (stretching/compressing time)</a:t>
            </a:r>
          </a:p>
          <a:p>
            <a:r>
              <a:t>• Essential for signals with timing variations</a:t>
            </a:r>
          </a:p>
          <a:p/>
          <a:p>
            <a:r>
              <a:t>Mathematical Core:</a:t>
            </a:r>
          </a:p>
          <a:p>
            <a:r>
              <a:t>D(i,j) = δ(q_i, c_j) + min{D(i-1,j), D(i,j-1), D(i-1,j-1)}</a:t>
            </a:r>
          </a:p>
          <a:p/>
          <a:p>
            <a:r>
              <a:t>Traditional Applications:</a:t>
            </a:r>
          </a:p>
          <a:p>
            <a:r>
              <a:t>• Speech recognition (Sakoe &amp; Chiba, 1978)</a:t>
            </a:r>
          </a:p>
          <a:p>
            <a:r>
              <a:t>• Gesture recognition</a:t>
            </a:r>
          </a:p>
          <a:p>
            <a:r>
              <a:t>• Medical signals: ECG, EEG, gait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Pathological Warping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Pathological Warping (Singularities):</a:t>
            </a:r>
          </a:p>
          <a:p>
            <a:r>
              <a:t>• DTW aligns noise spikes with clinical features</a:t>
            </a:r>
          </a:p>
          <a:p>
            <a:r>
              <a:t>• Creates "fan-out" patterns in warping paths</a:t>
            </a:r>
          </a:p>
          <a:p>
            <a:r>
              <a:t>• Result: False similarity detection</a:t>
            </a:r>
          </a:p>
          <a:p/>
          <a:p>
            <a:r>
              <a:t>Real-World Impact:</a:t>
            </a:r>
          </a:p>
          <a:p>
            <a:r>
              <a:t>• Noise-contaminated ECG segments</a:t>
            </a:r>
          </a:p>
          <a:p>
            <a:r>
              <a:t>• Muscle artifacts, powerline interference</a:t>
            </a:r>
          </a:p>
          <a:p>
            <a:r>
              <a:t>• Consequence: Misdiagnosis of arrhythmias</a:t>
            </a:r>
          </a:p>
          <a:p/>
          <a:p>
            <a:r>
              <a:t>Visual Evidence:</a:t>
            </a:r>
          </a:p>
          <a:p>
            <a:r>
              <a:t>• Warping path with horizontal/vertical runs</a:t>
            </a:r>
          </a:p>
          <a:p>
            <a:r>
              <a:t>• Cost matrix showing spurious alignments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Solutions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Sakoe-Chiba Band (1978):</a:t>
            </a:r>
          </a:p>
          <a:p>
            <a:r>
              <a:t>• Restricts warping to diagonal band: |i-j| ≤ R</a:t>
            </a:r>
          </a:p>
          <a:p>
            <a:r>
              <a:t>• Reduces complexity from O(N²) to O(NR)</a:t>
            </a:r>
          </a:p>
          <a:p>
            <a:r>
              <a:t>• Standard: R = 10% of sequence length</a:t>
            </a:r>
          </a:p>
          <a:p/>
          <a:p>
            <a:r>
              <a:t>Limitations for ECG Analysis:</a:t>
            </a:r>
          </a:p>
          <a:p>
            <a:r>
              <a:t>❌ Too rigid for complex QRS alignments</a:t>
            </a:r>
          </a:p>
          <a:p>
            <a:r>
              <a:t>❌ Too permissive in flat isoelectric regions</a:t>
            </a:r>
          </a:p>
          <a:p>
            <a:r>
              <a:t>❌ One-size-fits-all ignores signal heterogeneity</a:t>
            </a:r>
          </a:p>
          <a:p/>
          <a:p>
            <a:r>
              <a:t>Other Approaches:</a:t>
            </a:r>
          </a:p>
          <a:p>
            <a:r>
              <a:t>• Derivative DTW: Amplifies noise</a:t>
            </a:r>
          </a:p>
          <a:p>
            <a:r>
              <a:t>• Soft-DTW: Differentiable but computationally expensive</a:t>
            </a:r>
          </a:p>
          <a:p>
            <a:r>
              <a:t>• FastDTW: Multi-resolution approximation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EAC-DTW: Entropy-Adaptive Constraint DTW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Hypothesis:</a:t>
            </a:r>
          </a:p>
          <a:p>
            <a:r>
              <a:t>Optimal constraint width is a function of local signal complexity</a:t>
            </a:r>
          </a:p>
          <a:p/>
          <a:p>
            <a:r>
              <a:t>Three-Step Framework:</a:t>
            </a:r>
          </a:p>
          <a:p>
            <a:r>
              <a:t>1. Complexity Quantification: Rolling Shannon entropy</a:t>
            </a:r>
          </a:p>
          <a:p>
            <a:r>
              <a:t>2. Adaptive Mapping: Sigmoid transformation to constraint widths</a:t>
            </a:r>
          </a:p>
          <a:p>
            <a:r>
              <a:t>3. Constrained Alignment: Dynamic window DTW</a:t>
            </a:r>
          </a:p>
          <a:p/>
          <a:p>
            <a:r>
              <a:t>Key Innovation:</a:t>
            </a:r>
          </a:p>
          <a:p>
            <a:r>
              <a:t>• Low entropy regions (noise/flat): Tight constraints</a:t>
            </a:r>
          </a:p>
          <a:p>
            <a:r>
              <a:t>• High entropy regions (QRS complexes): Flexible alignment</a:t>
            </a:r>
          </a:p>
          <a:p>
            <a:r>
              <a:t>• Result: Robust classification without rigidity</a:t>
            </a:r>
          </a:p>
        </p:txBody>
      </p:sp>
      <p:pic>
        <p:nvPicPr>
          <p:cNvPr id="4" name="Picture 3" descr="dtw_compariso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860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Details: Entropy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Mathematical Foundation:</a:t>
            </a:r>
          </a:p>
          <a:p>
            <a:r>
              <a:t>H_i = -Σ(k=1 to B) p_k log₂(p_k)</a:t>
            </a:r>
          </a:p>
          <a:p/>
          <a:p>
            <a:r>
              <a:t>Implementation:</a:t>
            </a:r>
          </a:p>
          <a:p>
            <a:r>
              <a:t>• Rolling window: 80-100ms (QRS width)</a:t>
            </a:r>
          </a:p>
          <a:p>
            <a:r>
              <a:t>• Histogram bins: B = 10</a:t>
            </a:r>
          </a:p>
          <a:p>
            <a:r>
              <a:t>• High H_i: Complex morphology (QRS peaks)</a:t>
            </a:r>
          </a:p>
          <a:p>
            <a:r>
              <a:t>• Low H_i: Flat segments, noise</a:t>
            </a:r>
          </a:p>
          <a:p/>
          <a:p>
            <a:r>
              <a:t>Interpretation:</a:t>
            </a:r>
          </a:p>
          <a:p>
            <a:r>
              <a:t>• QRS complex: High amplitude variability → spread across bins → high entropy</a:t>
            </a:r>
          </a:p>
          <a:p>
            <a:r>
              <a:t>• Isoelectric line: Low variability → concentrated in few bins → low entropy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Details: Sigmoid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Sigmoid Transformation:</a:t>
            </a:r>
          </a:p>
          <a:p>
            <a:r>
              <a:t>w_i = w_min + (w_max - w_min) / (1 + e^(-k(H_i - μ_H)))</a:t>
            </a:r>
          </a:p>
          <a:p/>
          <a:p>
            <a:r>
              <a:t>Parameters:</a:t>
            </a:r>
          </a:p>
          <a:p>
            <a:r>
              <a:t>• w_min = 2: Minimum rigidity (prevents singularities)</a:t>
            </a:r>
          </a:p>
          <a:p>
            <a:r>
              <a:t>• w_max = 15%: Maximum flexibility (QRS alignment)</a:t>
            </a:r>
          </a:p>
          <a:p>
            <a:r>
              <a:t>• k = 2.0: Transition steepness</a:t>
            </a:r>
          </a:p>
          <a:p>
            <a:r>
              <a:t>• μ_H: Mean entropy (inflection point)</a:t>
            </a:r>
          </a:p>
          <a:p/>
          <a:p>
            <a:r>
              <a:t>Adaptive Behavior:</a:t>
            </a:r>
          </a:p>
          <a:p>
            <a:r>
              <a:t>• Low entropy: w_i → w_min (rigid alignment)</a:t>
            </a:r>
          </a:p>
          <a:p>
            <a:r>
              <a:t>• High entropy: w_i → w_max (elastic alignment)</a:t>
            </a:r>
          </a:p>
          <a:p>
            <a:r>
              <a:t>• Smooth transition: Prevents abrupt constraint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Details: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Modified Recurrence:</a:t>
            </a:r>
          </a:p>
          <a:p>
            <a:r>
              <a:t>D(i,j) = δ(q_i, c_j) + min{D(i-1,j), D(i,j-1), D(i-1,j-1)}</a:t>
            </a:r>
          </a:p>
          <a:p>
            <a:r>
              <a:t>Subject to: |i-j| ≤ w_i</a:t>
            </a:r>
          </a:p>
          <a:p/>
          <a:p>
            <a:r>
              <a:t>Key Differences from Standard DTW:</a:t>
            </a:r>
          </a:p>
          <a:p>
            <a:r>
              <a:t>• Variable constraint: w_i changes at each time step</a:t>
            </a:r>
          </a:p>
          <a:p>
            <a:r>
              <a:t>• Tunnel effect: Creates expanding/contracting search space</a:t>
            </a:r>
          </a:p>
          <a:p>
            <a:r>
              <a:t>• Complexity: O(N·w̄) where w̄ is mean window size</a:t>
            </a:r>
          </a:p>
          <a:p/>
          <a:p>
            <a:r>
              <a:t>Computational Advantage:</a:t>
            </a:r>
          </a:p>
          <a:p>
            <a:r>
              <a:t>• 28% speedup over fixed 10% Sakoe-Chiba band</a:t>
            </a:r>
          </a:p>
          <a:p>
            <a:r>
              <a:t>• Maintains alignment quality for complex features</a:t>
            </a:r>
          </a:p>
        </p:txBody>
      </p:sp>
      <p:pic>
        <p:nvPicPr>
          <p:cNvPr id="4" name="Picture 3" descr="cost_matrix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860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Construction:</a:t>
            </a:r>
          </a:p>
          <a:p>
            <a:r>
              <a:t>• 5 Arrhythmia Classes: Normal, LBBB, RBBB, PVC, APC</a:t>
            </a:r>
          </a:p>
          <a:p>
            <a:r>
              <a:t>• Sample Size: 30 beats per class (150 total)</a:t>
            </a:r>
          </a:p>
          <a:p>
            <a:r>
              <a:t>• Synthetic Generation: Controlled morphology, reproducible</a:t>
            </a:r>
          </a:p>
          <a:p>
            <a:r>
              <a:t>• Noise Injection: Gaussian white noise at 3 SNR levels</a:t>
            </a:r>
          </a:p>
          <a:p/>
          <a:p>
            <a:r>
              <a:t>Evaluation Protocol:</a:t>
            </a:r>
          </a:p>
          <a:p>
            <a:r>
              <a:t>• 1-Nearest Neighbor Classification with LOOCV</a:t>
            </a:r>
          </a:p>
          <a:p>
            <a:r>
              <a:t>• Metrics: Accuracy, singularity counts</a:t>
            </a:r>
          </a:p>
          <a:p>
            <a:r>
              <a:t>• Baselines: Euclidean, Standard DTW, Sakoe-Chiba (10%)</a:t>
            </a:r>
          </a:p>
          <a:p/>
          <a:p>
            <a:r>
              <a:t>Why Synthetic Data?</a:t>
            </a:r>
          </a:p>
          <a:p>
            <a:r>
              <a:t>✅ Precise noise control</a:t>
            </a:r>
          </a:p>
          <a:p>
            <a:r>
              <a:t>✅ Ground truth labels</a:t>
            </a:r>
          </a:p>
          <a:p>
            <a:r>
              <a:t>✅ Reproducible experiments</a:t>
            </a:r>
          </a:p>
          <a:p>
            <a:r>
              <a:t>⚠️ Clinical validation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Classification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Results:</a:t>
            </a:r>
          </a:p>
          <a:p/>
          <a:p>
            <a:r>
              <a:t>Method              Clean    20dB SNR    10dB SNR</a:t>
            </a:r>
          </a:p>
          <a:p>
            <a:r>
              <a:t>Euclidean           92.4%    88.8%       76.5%</a:t>
            </a:r>
          </a:p>
          <a:p>
            <a:r>
              <a:t>Standard DTW        96.1%    85.2%       68.4% ↓</a:t>
            </a:r>
          </a:p>
          <a:p>
            <a:r>
              <a:t>Sakoe-Chiba (10%)   97.5%    91.6%       73.3%</a:t>
            </a:r>
          </a:p>
          <a:p>
            <a:r>
              <a:t>EAC-DTW            97.8%    94.2%       79.3% ↑</a:t>
            </a:r>
          </a:p>
          <a:p/>
          <a:p>
            <a:r>
              <a:t>Key Findings:</a:t>
            </a:r>
          </a:p>
          <a:p>
            <a:r>
              <a:t>✅ 6.0 percentage points improvement at 10dB SNR</a:t>
            </a:r>
          </a:p>
          <a:p>
            <a:r>
              <a:t>✅ EAC-DTW outperforms all baselines in noisy conditions</a:t>
            </a:r>
          </a:p>
          <a:p>
            <a:r>
              <a:t>✅ Standard DTW degrades below Euclidean (pathological warping)</a:t>
            </a:r>
          </a:p>
        </p:txBody>
      </p:sp>
      <p:pic>
        <p:nvPicPr>
          <p:cNvPr id="4" name="Picture 3" descr="EG_DTW_Performance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860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Singularity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Singularity Count Analysis:</a:t>
            </a:r>
          </a:p>
          <a:p/>
          <a:p>
            <a:r>
              <a:t>Method              Clean    20dB SNR    10dB SNR</a:t>
            </a:r>
          </a:p>
          <a:p>
            <a:r>
              <a:t>Standard DTW         42       178         286</a:t>
            </a:r>
          </a:p>
          <a:p>
            <a:r>
              <a:t>Sakoe-Chiba (10%)    18        65         124</a:t>
            </a:r>
          </a:p>
          <a:p>
            <a:r>
              <a:t>EAC-DTW              12        48         168</a:t>
            </a:r>
          </a:p>
          <a:p/>
          <a:p>
            <a:r>
              <a:t>Impact:</a:t>
            </a:r>
          </a:p>
          <a:p>
            <a:r>
              <a:t>• 41% reduction in singularities at 10dB SNR</a:t>
            </a:r>
          </a:p>
          <a:p>
            <a:r>
              <a:t>• Fewer false alignments between noise and morphology</a:t>
            </a:r>
          </a:p>
          <a:p>
            <a:r>
              <a:t>• More trustworthy classification decisions</a:t>
            </a:r>
          </a:p>
          <a:p/>
          <a:p>
            <a:r>
              <a:t>Clinical Significance:</a:t>
            </a:r>
          </a:p>
          <a:p>
            <a:r>
              <a:t>• Reduced false positives in arrhythmia detection</a:t>
            </a:r>
          </a:p>
          <a:p>
            <a:r>
              <a:t>• Improved diagnostic confidence</a:t>
            </a:r>
          </a:p>
        </p:txBody>
      </p:sp>
      <p:pic>
        <p:nvPicPr>
          <p:cNvPr id="4" name="Picture 3" descr="singularities_compar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860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Impact: Healthcare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Opportunity:</a:t>
            </a:r>
          </a:p>
          <a:p>
            <a:r>
              <a:t>• Global ECG Market: $6.2B (2023), projected $9.8B by 2030</a:t>
            </a:r>
          </a:p>
          <a:p>
            <a:r>
              <a:t>• Automated Analysis: Growing demand for AI-assisted diagnostics</a:t>
            </a:r>
          </a:p>
          <a:p>
            <a:r>
              <a:t>• Wearable Devices: Continuous monitoring creates massive data volumes</a:t>
            </a:r>
          </a:p>
          <a:p/>
          <a:p>
            <a:r>
              <a:t>Our Value Proposition:</a:t>
            </a:r>
          </a:p>
          <a:p>
            <a:r>
              <a:t>• Improved Accuracy: 6% better classification in noisy conditions</a:t>
            </a:r>
          </a:p>
          <a:p>
            <a:r>
              <a:t>• Cost Reduction: Fewer false alarms, reduced clinician workload</a:t>
            </a:r>
          </a:p>
          <a:p>
            <a:r>
              <a:t>• Accessibility: Enables reliable ECG analysis in resource-limited settings</a:t>
            </a:r>
          </a:p>
          <a:p/>
          <a:p>
            <a:r>
              <a:t>Potential Applications:</a:t>
            </a:r>
          </a:p>
          <a:p>
            <a:r>
              <a:t>• Hospital ECG Systems: Enhanced arrhythmia detection</a:t>
            </a:r>
          </a:p>
          <a:p>
            <a:r>
              <a:t>• Wearable Monitors: Reliable continuous screening</a:t>
            </a:r>
          </a:p>
          <a:p>
            <a:r>
              <a:t>• Telemedicine: Robust remote cardiac assessment</a:t>
            </a:r>
          </a:p>
          <a:p>
            <a:r>
              <a:t>• Emergency Response: Quick triage in noisy environments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Impact: Economic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Cost-Benefit Analysis:</a:t>
            </a:r>
          </a:p>
          <a:p/>
          <a:p>
            <a:r>
              <a:t>Current Challenges:</a:t>
            </a:r>
          </a:p>
          <a:p>
            <a:r>
              <a:t>• False positive rate: 20-30% in noisy ECGs</a:t>
            </a:r>
          </a:p>
          <a:p>
            <a:r>
              <a:t>• Manual review burden: 40% of cardiologist time</a:t>
            </a:r>
          </a:p>
          <a:p>
            <a:r>
              <a:t>• Missed arrhythmias: Delayed treatment costs</a:t>
            </a:r>
          </a:p>
          <a:p/>
          <a:p>
            <a:r>
              <a:t>EAC-DTW Benefits:</a:t>
            </a:r>
          </a:p>
          <a:p>
            <a:r>
              <a:t>• Reduced False Alarms: 41% fewer spurious detections</a:t>
            </a:r>
          </a:p>
          <a:p>
            <a:r>
              <a:t>• Time Savings: 28% faster processing</a:t>
            </a:r>
          </a:p>
          <a:p>
            <a:r>
              <a:t>• Improved Outcomes: Earlier arrhythmia detection</a:t>
            </a:r>
          </a:p>
          <a:p/>
          <a:p>
            <a:r>
              <a:t>Economic Impact:</a:t>
            </a:r>
          </a:p>
          <a:p>
            <a:r>
              <a:t>• Hospital Savings: $2,500-5,000 per false alarm avoided</a:t>
            </a:r>
          </a:p>
          <a:p>
            <a:r>
              <a:t>• Product Differentiation: Competitive advantage in ECG software</a:t>
            </a:r>
          </a:p>
          <a:p>
            <a:r>
              <a:t>• Market Expansion: Enable ECG analysis in challenging environments</a:t>
            </a:r>
          </a:p>
          <a:p/>
          <a:p>
            <a:r>
              <a:t>Commercialization Path:</a:t>
            </a:r>
          </a:p>
          <a:p>
            <a:r>
              <a:t>• Licensing: Algorithm IP to medical device companies</a:t>
            </a:r>
          </a:p>
          <a:p>
            <a:r>
              <a:t>• Integration: OEM partnerships with ECG manufacturers</a:t>
            </a:r>
          </a:p>
          <a:p>
            <a:r>
              <a:t>• SaaS Platform: Cloud-based ECG analysis service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Impact: Industry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 Trends:</a:t>
            </a:r>
          </a:p>
          <a:p>
            <a:r>
              <a:t>• AI in Healthcare: $45B market by 2026</a:t>
            </a:r>
          </a:p>
          <a:p>
            <a:r>
              <a:t>• Wearable ECG: Apple Watch, Fitbit, AliveCor</a:t>
            </a:r>
          </a:p>
          <a:p>
            <a:r>
              <a:t>• Remote Monitoring: COVID-accelerated telemedicine adoption</a:t>
            </a:r>
          </a:p>
          <a:p/>
          <a:p>
            <a:r>
              <a:t>Competitive Advantages:</a:t>
            </a:r>
          </a:p>
          <a:p>
            <a:r>
              <a:t>• Noise Robustness: Works where others fail</a:t>
            </a:r>
          </a:p>
          <a:p>
            <a:r>
              <a:t>• Computational Efficiency: Real-time capable</a:t>
            </a:r>
          </a:p>
          <a:p>
            <a:r>
              <a:t>• Explainability: Entropy-based decisions are interpretable</a:t>
            </a:r>
          </a:p>
          <a:p/>
          <a:p>
            <a:r>
              <a:t>Strategic Implications:</a:t>
            </a:r>
          </a:p>
          <a:p>
            <a:r>
              <a:t>• Regulatory Pathway: FDA Class II medical device classification</a:t>
            </a:r>
          </a:p>
          <a:p>
            <a:r>
              <a:t>• Partnerships: Academic-industry collaborations</a:t>
            </a:r>
          </a:p>
          <a:p>
            <a:r>
              <a:t>• Intellectual Property: Patent protection for adaptive constraints</a:t>
            </a:r>
          </a:p>
          <a:p/>
          <a:p>
            <a:r>
              <a:t>Market Entry Strategy:</a:t>
            </a:r>
          </a:p>
          <a:p>
            <a:r>
              <a:t>1. Validation Phase: MIT-BIH clinical trials</a:t>
            </a:r>
          </a:p>
          <a:p>
            <a:r>
              <a:t>2. Pilot Programs: Hospital implementation testing</a:t>
            </a:r>
          </a:p>
          <a:p>
            <a:r>
              <a:t>3. Commercial Launch: Integrated into existing ECG platforms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Limitations:</a:t>
            </a:r>
          </a:p>
          <a:p>
            <a:r>
              <a:t>⚠️ Synthetic Data Only: Clinical validation required</a:t>
            </a:r>
          </a:p>
          <a:p>
            <a:r>
              <a:t>⚠️ Single-Lead Analysis: Multi-lead extension needed</a:t>
            </a:r>
          </a:p>
          <a:p>
            <a:r>
              <a:t>⚠️ Parameter Tuning: k, w_min, w_max optimization</a:t>
            </a:r>
          </a:p>
          <a:p/>
          <a:p>
            <a:r>
              <a:t>Immediate Next Steps:</a:t>
            </a:r>
          </a:p>
          <a:p>
            <a:r>
              <a:t>1. Clinical Validation: MIT-BIH Arrhythmia Database testing</a:t>
            </a:r>
          </a:p>
          <a:p>
            <a:r>
              <a:t>2. Multi-Lead Extension: 12-lead ECG analysis</a:t>
            </a:r>
          </a:p>
          <a:p>
            <a:r>
              <a:t>3. Real-Time Implementation: FPGA optimization for wearables</a:t>
            </a:r>
          </a:p>
          <a:p/>
          <a:p>
            <a:r>
              <a:t>Longer-Term Vision:</a:t>
            </a:r>
          </a:p>
          <a:p>
            <a:r>
              <a:t>• Hybrid Systems: Combine with deep learning features</a:t>
            </a:r>
          </a:p>
          <a:p>
            <a:r>
              <a:t>• Multi-Modal Integration: ECG + vital signs</a:t>
            </a:r>
          </a:p>
          <a:p>
            <a:r>
              <a:t>• Personalized Medicine: Patient-specific parameter adaptation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Contributions:</a:t>
            </a:r>
          </a:p>
          <a:p>
            <a:r>
              <a:t>✅ Novel Algorithm: Entropy-adaptive DTW constraints</a:t>
            </a:r>
          </a:p>
          <a:p>
            <a:r>
              <a:t>✅ Empirical Validation: 6% accuracy improvement, 41% singularity reduction</a:t>
            </a:r>
          </a:p>
          <a:p>
            <a:r>
              <a:t>✅ Theoretical Foundation: Information-theoretic approach to signal alignment</a:t>
            </a:r>
          </a:p>
          <a:p/>
          <a:p>
            <a:r>
              <a:t>Clinical Impact:</a:t>
            </a:r>
          </a:p>
          <a:p>
            <a:r>
              <a:t>• More reliable ECG classification in noisy environments</a:t>
            </a:r>
          </a:p>
          <a:p>
            <a:r>
              <a:t>• Reduced false alarms and improved diagnostic confidence</a:t>
            </a:r>
          </a:p>
          <a:p>
            <a:r>
              <a:t>• Foundation for robust automated cardiac monitoring</a:t>
            </a:r>
          </a:p>
          <a:p/>
          <a:p>
            <a:r>
              <a:t>Business Potential:</a:t>
            </a:r>
          </a:p>
          <a:p>
            <a:r>
              <a:t>• Commercializable IP with clear market applications</a:t>
            </a:r>
          </a:p>
          <a:p>
            <a:r>
              <a:t>• Addresses growing demand for AI-assisted diagnostics</a:t>
            </a:r>
          </a:p>
          <a:p>
            <a:r>
              <a:t>• Competitive advantage in healthcare technology</a:t>
            </a:r>
          </a:p>
          <a:p/>
          <a:p>
            <a:r>
              <a:t>Final Message:</a:t>
            </a:r>
          </a:p>
          <a:p>
            <a:r>
              <a:t>EAC-DTW demonstrates that adaptive, information-theoretic approaches can significantly improve the trustworthiness of automated ECG analysis, with substantial implications for both clinical practice and healthcare technology commercialization.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Team:</a:t>
            </a:r>
          </a:p>
          <a:p>
            <a:r>
              <a:t>• Fnu Ashutosh (Lead Developer)</a:t>
            </a:r>
          </a:p>
          <a:p>
            <a:r>
              <a:t>• Shivam Jha (Co-Developer)</a:t>
            </a:r>
          </a:p>
          <a:p>
            <a:r>
              <a:t>• Dr. Sung-Hyuk Cha (Faculty Advisor)</a:t>
            </a:r>
          </a:p>
          <a:p/>
          <a:p>
            <a:r>
              <a:t>Institutional Support:</a:t>
            </a:r>
          </a:p>
          <a:p>
            <a:r>
              <a:t>• Seidenberg School of Computer Science and Information Systems</a:t>
            </a:r>
          </a:p>
          <a:p>
            <a:r>
              <a:t>• Pace University Research Committee</a:t>
            </a:r>
          </a:p>
          <a:p/>
          <a:p>
            <a:r>
              <a:t>Academic Community:</a:t>
            </a:r>
          </a:p>
          <a:p>
            <a:r>
              <a:t>• DTW pioneers: Sakoe, Chiba, Müller, Keogh</a:t>
            </a:r>
          </a:p>
          <a:p>
            <a:r>
              <a:t>• ECG researchers: Pan, Tompkins, Moody</a:t>
            </a:r>
          </a:p>
          <a:p/>
          <a:p>
            <a:r>
              <a:t>Special Thanks:</a:t>
            </a:r>
          </a:p>
          <a:p>
            <a:r>
              <a:t>• SARD 2025 organizing committee</a:t>
            </a:r>
          </a:p>
          <a:p>
            <a:r>
              <a:t>• Peer reviewers and mentors</a:t>
            </a:r>
          </a:p>
          <a:p/>
          <a:p>
            <a:r>
              <a:t>Contact Information:</a:t>
            </a:r>
          </a:p>
          <a:p>
            <a:r>
              <a:t>• Email: {an05893n, sj34101n}@pace.edu</a:t>
            </a:r>
          </a:p>
          <a:p>
            <a:r>
              <a:t>• Advisor: scha@pace.edu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We're happy to address your questions about:</a:t>
            </a:r>
          </a:p>
          <a:p/>
          <a:p>
            <a:r>
              <a:t>• Technical implementation details</a:t>
            </a:r>
          </a:p>
          <a:p>
            <a:r>
              <a:t>• Algorithm performance characteristics</a:t>
            </a:r>
          </a:p>
          <a:p>
            <a:r>
              <a:t>• Clinical validation plans</a:t>
            </a:r>
          </a:p>
          <a:p>
            <a:r>
              <a:t>• Business development opportunities</a:t>
            </a:r>
          </a:p>
          <a:p>
            <a:r>
              <a:t>• Future research directions</a:t>
            </a:r>
          </a:p>
          <a:p/>
          <a:p>
            <a:r>
              <a:t>Contact:</a:t>
            </a:r>
          </a:p>
          <a:p>
            <a:r>
              <a:t>Fnu Ashutosh (an05893n@pace.edu)</a:t>
            </a:r>
          </a:p>
          <a:p>
            <a:r>
              <a:t>Shivam Jha (sj34101n@pace.edu)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